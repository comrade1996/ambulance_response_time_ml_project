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11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F92A005-F069-4863-88C5-703A9B2A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endParaRPr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60C399B0-3BF2-4B55-BDC3-7F76EDFB59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02100B44-D11C-4EBA-81A0-6EEE6314D5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99B3833-5604-4088-882F-1523870A61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2584510-845F-44B3-BC07-4BFACA1F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endParaRPr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1C7DD2B-4302-452F-A543-3AE40A10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FE1C637-B78A-4415-A25D-11F69DCE55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775FEFC-2E72-416F-8DFD-FB64E1776F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2E92883-782F-48F0-87EC-1B5F06B53D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206ADEA-2D18-4C96-8B42-6B992882F2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1C1B4FE-A40A-4E2C-B7FA-4F1309AA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1357E83-EAC3-4012-B770-1C1912B5E1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C907AF7-3AC1-469D-A153-CF0097BD1E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031D883-D3A2-45D8-A987-249A9D0602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F65E7C0-1E99-4355-912F-545BBA6C6E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33AE1F-348E-4B96-989F-6811EC24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E74CC538-E551-4838-8056-39B2E8FA2D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56B0FB51-3984-4F2D-BE36-C5CB44AE55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12DCE08A-9C8A-4FCC-B5F4-8005DB05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54296DA-2D89-45FF-B61D-331200FFF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935B4CF-CADA-404C-BBB8-E35498C54B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C818F6F-CC8C-4D66-8EAE-883F782885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594C543-C979-478D-9AC5-9D4F8602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endParaRPr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A8D98BB-BCE7-4B3C-BF46-53187ADCC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ED6E574-7CA2-44B6-9E18-0FB6BF2C2CA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E322D6FE-4393-4E20-B453-11D11263FE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AD6E7774-7327-4CDB-9CE9-003CAA6CA9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4AEAE9-DC94-4F09-9676-0BFB3D88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65386DE1-3E55-49DD-9CDA-AFA13AF6F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AA3CCF1-E684-49FB-B577-32BF8BBA59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5371DA5-6618-4F9B-A839-A4693DF520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AF0AF4B-B366-4B74-A86F-CB82467F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1E473D5-B655-4E4D-B2FC-7F71E19E04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C277DD8-283A-405B-A03C-A101BE0870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CD322E4-67FA-4610-94FA-50BA13985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endParaRPr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33D3EC2-50D8-47E7-8EA6-BDEDB845D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03BBDD2-64D3-4BA4-8C36-D1FFF5A8E7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0339864-4EC1-4B37-8274-A230F10F89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9EFA135-9A16-4D4A-9711-61A06B2153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BE44FAAA-702C-45DF-A9FC-324BA503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DD5040A-77C9-461E-AF4C-23625796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F57B65E-8B58-45D7-A32C-53A60384457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810B483-56CD-4274-8B0F-473CEB79CF8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A16E30C-D0A7-4F4E-A255-6DFB38F21A2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r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r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r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مستطيل: زوايا مستديرة 41">
            <a:extLst>
              <a:ext uri="{FF2B5EF4-FFF2-40B4-BE49-F238E27FC236}">
                <a16:creationId xmlns:a16="http://schemas.microsoft.com/office/drawing/2014/main" id="{CAFD1BA4-D0E9-4D50-9D35-05EE32A086A2}"/>
              </a:ext>
            </a:extLst>
          </p:cNvPr>
          <p:cNvSpPr>
            <a:spLocks noGrp="1"/>
          </p:cNvSpPr>
          <p:nvPr/>
        </p:nvSpPr>
        <p:spPr>
          <a:xfrm>
            <a:off x="1794361" y="1473138"/>
            <a:ext cx="8595360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50000">
                <a:schemeClr val="tx2">
                  <a:lumMod val="75000"/>
                  <a:lumOff val="25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8900000"/>
          </a:gradFill>
          <a:ln w="25400">
            <a:noFill/>
            <a:prstDash val="solid"/>
          </a:ln>
          <a:effectLst>
            <a:outerShdw blurRad="228600" dir="15000000" algn="br" rotWithShape="0">
              <a:prstClr val="black">
                <a:alpha val="38000"/>
              </a:prst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مخطط انسيابي: مهلة 51">
            <a:extLst>
              <a:ext uri="{FF2B5EF4-FFF2-40B4-BE49-F238E27FC236}">
                <a16:creationId xmlns:a16="http://schemas.microsoft.com/office/drawing/2014/main" id="{3BE8F133-3234-4BAD-B502-0258BF30D926}"/>
              </a:ext>
            </a:extLst>
          </p:cNvPr>
          <p:cNvSpPr>
            <a:spLocks noGrp="1"/>
          </p:cNvSpPr>
          <p:nvPr/>
        </p:nvSpPr>
        <p:spPr>
          <a:xfrm rot="5400000">
            <a:off x="10746270" y="203028"/>
            <a:ext cx="1342144" cy="1279011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صورة 27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0833351" y="214135"/>
            <a:ext cx="1170744" cy="1263969"/>
          </a:xfrm>
          <a:prstGeom prst="rect">
            <a:avLst/>
          </a:prstGeom>
        </p:spPr>
      </p:pic>
      <p:sp>
        <p:nvSpPr>
          <p:cNvPr id="56" name="Google Shape;418;p11">
            <a:extLst>
              <a:ext uri="{FF2B5EF4-FFF2-40B4-BE49-F238E27FC236}">
                <a16:creationId xmlns:a16="http://schemas.microsoft.com/office/drawing/2014/main" id="{BC84BC4A-D3B2-4E17-9A34-5A8B52738663}"/>
              </a:ext>
            </a:extLst>
          </p:cNvPr>
          <p:cNvSpPr>
            <a:spLocks noGrp="1"/>
          </p:cNvSpPr>
          <p:nvPr/>
        </p:nvSpPr>
        <p:spPr>
          <a:xfrm>
            <a:off x="1833028" y="222297"/>
            <a:ext cx="7546975" cy="1107996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chemeClr val="accent2">
                    <a:lumMod val="60000"/>
                    <a:lumOff val="40000"/>
                  </a:schemeClr>
                </a:solidFill>
                <a:latin typeface="Simplified Arabic"/>
                <a:ea typeface="Simplified Arabic"/>
                <a:cs typeface="Simplified Arabic"/>
              </a:rPr>
              <a:t>جامعة النيلين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Simplified Arabic"/>
                <a:ea typeface="Simplified Arabic"/>
                <a:cs typeface="Simplified Arabic"/>
              </a:rPr>
              <a:t>كلية علوم الحاسوب وتقانة المعلومات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chemeClr val="accent2">
                    <a:lumMod val="60000"/>
                    <a:lumOff val="40000"/>
                  </a:schemeClr>
                </a:solidFill>
                <a:latin typeface="Simplified Arabic"/>
                <a:ea typeface="Simplified Arabic"/>
                <a:cs typeface="Simplified Arabic"/>
              </a:rPr>
              <a:t>قسم علوم الحاسوب</a:t>
            </a:r>
          </a:p>
        </p:txBody>
      </p:sp>
      <p:pic>
        <p:nvPicPr>
          <p:cNvPr id="57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21770">
            <a:off x="177062" y="69460"/>
            <a:ext cx="1238250" cy="1503680"/>
          </a:xfrm>
          <a:prstGeom prst="rect">
            <a:avLst/>
          </a:prstGeom>
        </p:spPr>
      </p:pic>
      <p:sp>
        <p:nvSpPr>
          <p:cNvPr id="7" name="شبه منحرف 6">
            <a:extLst>
              <a:ext uri="{FF2B5EF4-FFF2-40B4-BE49-F238E27FC236}">
                <a16:creationId xmlns:a16="http://schemas.microsoft.com/office/drawing/2014/main" id="{80EF1C31-AC4C-4DCA-BA80-75D212C4C749}"/>
              </a:ext>
            </a:extLst>
          </p:cNvPr>
          <p:cNvSpPr>
            <a:spLocks noGrp="1"/>
          </p:cNvSpPr>
          <p:nvPr/>
        </p:nvSpPr>
        <p:spPr>
          <a:xfrm>
            <a:off x="0" y="6468595"/>
            <a:ext cx="12192000" cy="369333"/>
          </a:xfrm>
          <a:prstGeom prst="trapezoid">
            <a:avLst>
              <a:gd name="adj" fmla="val 69527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algn="ctr">
              <a:buNone/>
            </a:pPr>
            <a:r>
              <a:rPr sz="186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مستطيل: زوايا مستديرة 12">
            <a:extLst>
              <a:ext uri="{FF2B5EF4-FFF2-40B4-BE49-F238E27FC236}">
                <a16:creationId xmlns:a16="http://schemas.microsoft.com/office/drawing/2014/main" id="{7930D250-8B89-45C3-BD5D-B0C52DBCA4A7}"/>
              </a:ext>
            </a:extLst>
          </p:cNvPr>
          <p:cNvSpPr>
            <a:spLocks noGrp="1"/>
          </p:cNvSpPr>
          <p:nvPr/>
        </p:nvSpPr>
        <p:spPr>
          <a:xfrm>
            <a:off x="331321" y="3324861"/>
            <a:ext cx="11521440" cy="3657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2E3F"/>
              </a:gs>
              <a:gs pos="36000">
                <a:srgbClr val="282828"/>
              </a:gs>
              <a:gs pos="70000">
                <a:srgbClr val="003366"/>
              </a:gs>
              <a:gs pos="100000">
                <a:srgbClr val="699970"/>
              </a:gs>
            </a:gsLst>
            <a:lin ang="0"/>
          </a:gradFill>
          <a:ln w="25400">
            <a:noFill/>
            <a:prstDash val="solid"/>
          </a:ln>
          <a:effectLst>
            <a:outerShdw blurRad="228600" dir="15000000" algn="br" rotWithShape="0">
              <a:prstClr val="black">
                <a:alpha val="38000"/>
              </a:prst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id="{C483067A-6B66-4E94-87CD-4E60FEFC36C8}"/>
              </a:ext>
            </a:extLst>
          </p:cNvPr>
          <p:cNvSpPr>
            <a:spLocks noGrp="1"/>
          </p:cNvSpPr>
          <p:nvPr/>
        </p:nvSpPr>
        <p:spPr>
          <a:xfrm>
            <a:off x="331321" y="5581709"/>
            <a:ext cx="11521440" cy="3657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50000">
                <a:srgbClr val="00FFCC"/>
              </a:gs>
              <a:gs pos="100000">
                <a:srgbClr val="7030A0"/>
              </a:gs>
            </a:gsLst>
            <a:path path="circle">
              <a:fillToRect l="100000" t="100000"/>
            </a:path>
          </a:gradFill>
          <a:ln w="25400">
            <a:noFill/>
            <a:prstDash val="solid"/>
          </a:ln>
          <a:effectLst>
            <a:outerShdw blurRad="228600" dir="15000000" algn="br" rotWithShape="0">
              <a:prstClr val="black">
                <a:alpha val="38000"/>
              </a:prst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3BCB4868-C386-4396-ABFF-C210449111F3}"/>
              </a:ext>
            </a:extLst>
          </p:cNvPr>
          <p:cNvSpPr>
            <a:spLocks noGrp="1"/>
          </p:cNvSpPr>
          <p:nvPr/>
        </p:nvSpPr>
        <p:spPr>
          <a:xfrm>
            <a:off x="1833028" y="3344724"/>
            <a:ext cx="9013914" cy="13089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00000"/>
                </a:solidFill>
                <a:latin typeface="Arial"/>
              </a:rPr>
              <a:t>اسم المشروع: التنبؤ بزمن استجابة الإسعاف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3E989CC0-A2B8-47DB-9764-4AA01CC18D79}"/>
              </a:ext>
            </a:extLst>
          </p:cNvPr>
          <p:cNvSpPr>
            <a:spLocks noGrp="1"/>
          </p:cNvSpPr>
          <p:nvPr/>
        </p:nvSpPr>
        <p:spPr>
          <a:xfrm>
            <a:off x="8111062" y="5604651"/>
            <a:ext cx="3844927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F4E79"/>
                </a:solidFill>
                <a:latin typeface="Arial"/>
              </a:rPr>
              <a:t>إعداد: عمير جبريل عبد اللطيف احمد</a:t>
            </a:r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C34DCDE0-E13A-4627-921E-8ABE46B80A1C}"/>
              </a:ext>
            </a:extLst>
          </p:cNvPr>
          <p:cNvSpPr>
            <a:spLocks noGrp="1"/>
          </p:cNvSpPr>
          <p:nvPr/>
        </p:nvSpPr>
        <p:spPr>
          <a:xfrm>
            <a:off x="533734" y="5572940"/>
            <a:ext cx="4527369" cy="7540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03366"/>
                </a:solidFill>
                <a:latin typeface="Arial"/>
                <a:ea typeface="Times New Roman"/>
                <a:cs typeface="Times New Roman"/>
              </a:rPr>
              <a:t>د. أمين مبارك | جامعة النيلين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83448-03A0-4C80-BE3C-D080A7A64F63}"/>
              </a:ext>
            </a:extLst>
          </p:cNvPr>
          <p:cNvSpPr>
            <a:spLocks noGrp="1"/>
          </p:cNvSpPr>
          <p:nvPr/>
        </p:nvSpPr>
        <p:spPr>
          <a:xfrm>
            <a:off x="4493890" y="2393318"/>
            <a:ext cx="373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مسار: الذكاء الاصطناعي وتعلم الآلة</a:t>
            </a:r>
          </a:p>
        </p:txBody>
      </p:sp>
    </p:spTree>
    <p:extLst>
      <p:ext uri="{BB962C8B-B14F-4D97-AF65-F5344CB8AC3E}">
        <p14:creationId xmlns:p14="http://schemas.microsoft.com/office/powerpoint/2010/main" val="135864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E84E45A9-EF04-4D9E-8ED3-A17E02E9EF05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6A9725DA-231A-4A0E-ADF0-0ECB27E99FCC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5" name="مستطيل 4">
            <a:extLst>
              <a:ext uri="{FF2B5EF4-FFF2-40B4-BE49-F238E27FC236}">
                <a16:creationId xmlns:a16="http://schemas.microsoft.com/office/drawing/2014/main" id="{D31E2A06-D434-4F90-A5F2-C01229B0B3EB}"/>
              </a:ext>
            </a:extLst>
          </p:cNvPr>
          <p:cNvSpPr>
            <a:spLocks noGrp="1"/>
          </p:cNvSpPr>
          <p:nvPr/>
        </p:nvSpPr>
        <p:spPr>
          <a:xfrm>
            <a:off x="0" y="562711"/>
            <a:ext cx="12192000" cy="91440"/>
          </a:xfrm>
          <a:prstGeom prst="rect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56F4DCAA-34D6-4B9C-8F15-99CC897EECEF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المقدمة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14884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يمثل زمن استجابة الإسعاف مؤشراً مهماً في جودة خدمات الطوارئ.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يستخدم المشروع بيانات حقيقية من سجلات بلاغات الإسعاف في مدينة نيويورك.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تم حفظ عينة تدريب نظيفة من عشرة آلاف سجل قبل تدريب النماذج.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الهدف هو توقع زمن الاستجابة بالدقائق ومقارنة مخرجات نموذجين.</a:t>
            </a:r>
          </a:p>
        </p:txBody>
      </p:sp>
    </p:spTree>
    <p:extLst>
      <p:ext uri="{BB962C8B-B14F-4D97-AF65-F5344CB8AC3E}">
        <p14:creationId xmlns:p14="http://schemas.microsoft.com/office/powerpoint/2010/main" val="297529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7E9069C-DC83-4BC9-A647-8F80F5CFD7E8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الفجوة البحثية</a:t>
            </a:r>
          </a:p>
        </p:txBody>
      </p:sp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2971E727-16AC-4AD9-8E50-5C665A7DC9DA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4BE79DDF-5E16-40F4-8A8A-20F077F28814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A57C22CD-3885-44C1-A461-8CE51B0F4C54}"/>
              </a:ext>
            </a:extLst>
          </p:cNvPr>
          <p:cNvSpPr>
            <a:spLocks noGrp="1"/>
          </p:cNvSpPr>
          <p:nvPr/>
        </p:nvSpPr>
        <p:spPr>
          <a:xfrm>
            <a:off x="1528998" y="2252522"/>
            <a:ext cx="960869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الفجوة البحثية: لا يكفي عرض متوسطات الاستجابة فقط؛ نحتاج نموذجاً يتوقع زمن الاستجابة لكل حالة ويسمح بمقارنة التوقع مع الزمن الحقيقي.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6324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السؤال الرئيس: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هل يمكن لتعلم الآلة توقع زمن استجابة الإسعاف اعتماداً على بيانات البلاغات السابقة؟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الخصائص المستخدمة: الساعة، يوم الأسبوع، الشهر، المنطقة، منطقة الإرسال، نوع البلاغ، ومستوى الخطورة الأولي والنهائي.</a:t>
            </a:r>
          </a:p>
        </p:txBody>
      </p:sp>
    </p:spTree>
    <p:extLst>
      <p:ext uri="{BB962C8B-B14F-4D97-AF65-F5344CB8AC3E}">
        <p14:creationId xmlns:p14="http://schemas.microsoft.com/office/powerpoint/2010/main" val="418549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B7BBD5ED-6078-4CAE-AF89-46718F0768BD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أهداف البحث</a:t>
            </a:r>
          </a:p>
        </p:txBody>
      </p:sp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EF734C53-B3D6-4569-910C-43F1DE3F2AE2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93D12F76-04CD-4FEB-A2CF-BCCC0ADA7D3B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" y="224028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حفظ مجموعة بيانات نظيفة من عشرة آلاف سجل لاستخدامها في التدريب والفحص اليدوي.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حساب زمن الاستجابة بالدقائق كمتغير هدف.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تدريب نموذجين: الانحدار الخطي والغابة العشوائية.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تقييم النموذجين باستخدام متوسط الخطأ المطلق وجذر متوسط مربع الخطأ فقط.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حفظ ملف مقارنة حالة بحالة يحتوي رقم الحالة والزمن الحقيقي وتوقعات النموذجين.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تجهيز أمر برمجي لفحص أي رقم حالة مباشرة.</a:t>
            </a:r>
          </a:p>
        </p:txBody>
      </p:sp>
    </p:spTree>
    <p:extLst>
      <p:ext uri="{BB962C8B-B14F-4D97-AF65-F5344CB8AC3E}">
        <p14:creationId xmlns:p14="http://schemas.microsoft.com/office/powerpoint/2010/main" val="837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73CEA7ED-14CA-42CF-B8AF-42A80FC98CD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5FC0020D-F613-4C53-905A-F94372D57A5C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B6E9CB90-984A-42FF-BCDA-7A1C1D8841DE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منهجية البحث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3172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جمع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بلاغات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الإسعاف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الحقيقي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في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مدينة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نيويورك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إعداد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قراءة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على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أجزاء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ثم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حفظ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عشرة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آلاف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سجل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نظيف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في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التدريب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هندسة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الخصائص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الساعة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يوم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الأسبوع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الشهر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المنطقة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منطقة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الإرسال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نوع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البلاغ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مستوى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الخطورة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الأولي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ومستوى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الخطورة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النهائي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النمذجة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تدريب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الانحدار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والغابة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العشوائية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على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نفس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التقييم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مقارنة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متوسط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الخطأ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المطلق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وجذر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متوسط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مربع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الخطأ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ثم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حفظ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مراجعة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حالة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بحالة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259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9113A906-970F-492E-B3C4-C71FFE3CC72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C971F72A-E060-47B0-B5D3-1833FAC782C3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DA8C583-50F2-45E2-B005-B9D7B78D9937}"/>
              </a:ext>
            </a:extLst>
          </p:cNvPr>
          <p:cNvSpPr>
            <a:spLocks noGrp="1"/>
          </p:cNvSpPr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Arial"/>
                <a:ea typeface="Times New Roman"/>
                <a:cs typeface="Times New Roman"/>
              </a:rPr>
              <a:t>النتائج والمناقشة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2FB10C-ED7B-4451-A104-900C8E9EBAE7}"/>
              </a:ext>
            </a:extLst>
          </p:cNvPr>
          <p:cNvSpPr>
            <a:spLocks noGrp="1"/>
          </p:cNvSpPr>
          <p:nvPr/>
        </p:nvSpPr>
        <p:spPr>
          <a:xfrm>
            <a:off x="967584" y="1921778"/>
            <a:ext cx="10898364" cy="824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endParaRPr/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5B1567A-54FF-4196-81E0-E5C65B59D4C1}"/>
              </a:ext>
            </a:extLst>
          </p:cNvPr>
          <p:cNvSpPr>
            <a:spLocks noGrp="1"/>
          </p:cNvSpPr>
          <p:nvPr/>
        </p:nvSpPr>
        <p:spPr>
          <a:xfrm>
            <a:off x="975950" y="2992023"/>
            <a:ext cx="11035877" cy="4830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endParaRPr/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6328F017-3604-48B5-869A-EE870B7F15C8}"/>
              </a:ext>
            </a:extLst>
          </p:cNvPr>
          <p:cNvSpPr>
            <a:spLocks noGrp="1"/>
          </p:cNvSpPr>
          <p:nvPr/>
        </p:nvSpPr>
        <p:spPr>
          <a:xfrm>
            <a:off x="1061398" y="4165867"/>
            <a:ext cx="11035877" cy="4830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1828800"/>
            <a:ext cx="987552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dirty="0" err="1">
                <a:solidFill>
                  <a:srgbClr val="1F4E79"/>
                </a:solidFill>
                <a:latin typeface="Arial"/>
              </a:rPr>
              <a:t>نتائج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مقاييس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endParaRPr sz="1000" b="1" dirty="0">
              <a:solidFill>
                <a:srgbClr val="1F4E79"/>
              </a:solidFill>
              <a:latin typeface="Arial"/>
            </a:endParaRPr>
          </a:p>
          <a:p>
            <a:pPr algn="ctr">
              <a:spcAft>
                <a:spcPts val="200"/>
              </a:spcAft>
            </a:pPr>
            <a:r>
              <a:rPr sz="1000" b="1" dirty="0" err="1">
                <a:solidFill>
                  <a:srgbClr val="1F4E79"/>
                </a:solidFill>
                <a:latin typeface="Arial"/>
              </a:rPr>
              <a:t>الغابة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العشوائية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: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المطلق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٦٫٧٥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،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وجذر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مربع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١٢٫٢٤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.</a:t>
            </a:r>
          </a:p>
          <a:p>
            <a:pPr algn="ctr">
              <a:spcAft>
                <a:spcPts val="200"/>
              </a:spcAft>
            </a:pPr>
            <a:r>
              <a:rPr sz="1000" b="1" dirty="0" err="1">
                <a:solidFill>
                  <a:srgbClr val="1F4E79"/>
                </a:solidFill>
                <a:latin typeface="Arial"/>
              </a:rPr>
              <a:t>الانحدار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الخطي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: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المطلق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٨٫٣٥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،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وجذر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مربع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١٤٫٢٤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632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مثال مخرجات حقيقي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رقم الحالة: ٢٣٠٠٢٢٤٩٦.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زمن الاستجابة الحقيقي: ٤٫٢٥ دقيقة.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توقع الانحدار الخطي: ١٠٫٥٠ دقيقة.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توقع الغابة العشوائية: ٨٫٨٥ دقيقة.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أهم الخصائص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أظهرت أهمية الخصائص أن مستوى الخطورة الأولي والساعة ويوم الأسبوع من أبرز العوامل المؤثرة.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يمكن فتح ملف مقارنة الحالات ومراجعة كل حالة باستخدام رقم الحالة.</a:t>
            </a:r>
          </a:p>
        </p:txBody>
      </p:sp>
    </p:spTree>
    <p:extLst>
      <p:ext uri="{BB962C8B-B14F-4D97-AF65-F5344CB8AC3E}">
        <p14:creationId xmlns:p14="http://schemas.microsoft.com/office/powerpoint/2010/main" val="124667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D3A24FD2-0FCD-4154-A088-11572E9E9566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9F5C29A3-9251-4963-8EC6-DA70CBFAB4A7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2BA0C8E3-63E3-431D-A2BE-B05F79E2DA87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الخلاصة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تم تدريب النموذجين على عينة حقيقية نظيفة من عشرة آلاف سجل.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يعرض المشروع الآن مخرجات واضحة يمكن التحقق منها حالة بحالة.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حققت الغابة العشوائية خطأ أقل من الانحدار الخطي في مقاييس الخطأ.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ملف الحالات المختارة للفحص اليدوي يساعد على مقارنة الزمن الحقيقي مع التوقعات.</a:t>
            </a:r>
          </a:p>
        </p:txBody>
      </p:sp>
    </p:spTree>
    <p:extLst>
      <p:ext uri="{BB962C8B-B14F-4D97-AF65-F5344CB8AC3E}">
        <p14:creationId xmlns:p14="http://schemas.microsoft.com/office/powerpoint/2010/main" val="54737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D5548988-68AC-4D48-A16E-C30EDF6C48D6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E44096DF-A3F6-4304-8DB8-978335D7BB8E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9D820385-9F72-4B7D-AB9F-7A0296B00296}"/>
              </a:ext>
            </a:extLst>
          </p:cNvPr>
          <p:cNvSpPr>
            <a:spLocks noGrp="1"/>
          </p:cNvSpPr>
          <p:nvPr/>
        </p:nvSpPr>
        <p:spPr>
          <a:xfrm>
            <a:off x="116769" y="789276"/>
            <a:ext cx="4344035" cy="1159094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التوصيات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24028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استخدام ملف مقارنة الحالات لمراجعة الحالات ذات الخطأ العالي.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مقارنة توقعات الانحدار الخطي والغابة العشوائية لكل رقم حالة.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التركيز على مناطق الإرسال وأنواع البلاغات ذات زمن الاستجابة المرتفع.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إضافة بيانات المرور والطقس وتوفر الوحدات لتحسين التوقع مستقبلاً.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تحديث التدريب دورياً باستخدام بيانات أحدث.</a:t>
            </a:r>
          </a:p>
        </p:txBody>
      </p:sp>
    </p:spTree>
    <p:extLst>
      <p:ext uri="{BB962C8B-B14F-4D97-AF65-F5344CB8AC3E}">
        <p14:creationId xmlns:p14="http://schemas.microsoft.com/office/powerpoint/2010/main" val="215763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9113A906-970F-492E-B3C4-C71FFE3CC72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C971F72A-E060-47B0-B5D3-1833FAC782C3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DA8C583-50F2-45E2-B005-B9D7B78D9937}"/>
              </a:ext>
            </a:extLst>
          </p:cNvPr>
          <p:cNvSpPr>
            <a:spLocks noGrp="1"/>
          </p:cNvSpPr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 b="1" dirty="0" err="1">
                <a:solidFill>
                  <a:srgbClr val="1F4E79"/>
                </a:solidFill>
                <a:latin typeface="Arial"/>
              </a:rPr>
              <a:t>رسم</a:t>
            </a:r>
            <a:r>
              <a:rPr sz="2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Arial"/>
              </a:rPr>
              <a:t>مقارنة</a:t>
            </a:r>
            <a:r>
              <a:rPr sz="2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Arial"/>
              </a:rPr>
              <a:t>أخطاء</a:t>
            </a:r>
            <a:r>
              <a:rPr sz="2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Arial"/>
              </a:rPr>
              <a:t>النموذجين</a:t>
            </a:r>
            <a:endParaRPr sz="2000" b="1" dirty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متوسط الخطأ المطلق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957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الغابة العشوائية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42316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48840" y="2423160"/>
            <a:ext cx="2512615" cy="292608"/>
          </a:xfrm>
          <a:prstGeom prst="rect">
            <a:avLst/>
          </a:prstGeom>
          <a:solidFill>
            <a:srgbClr val="2E7D61"/>
          </a:solidFill>
          <a:ln>
            <a:solidFill>
              <a:srgbClr val="2E7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23957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٦٫٧٥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8529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الانحدار الخطي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88036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48840" y="2880360"/>
            <a:ext cx="3109361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28529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٨٫٣٥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جذر متوسط مربع الخطأ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8736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الغابة العشوائية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411480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48840" y="4114800"/>
            <a:ext cx="4557229" cy="292608"/>
          </a:xfrm>
          <a:prstGeom prst="rect">
            <a:avLst/>
          </a:prstGeom>
          <a:solidFill>
            <a:srgbClr val="2E7D61"/>
          </a:solidFill>
          <a:ln>
            <a:solidFill>
              <a:srgbClr val="2E7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408736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١٢٫٢٤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54456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الانحدار الخطي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457200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148840" y="4572000"/>
            <a:ext cx="5303520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454456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١٤٫٢٤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48640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8754A"/>
                </a:solidFill>
                <a:latin typeface="Arial"/>
              </a:rPr>
              <a:t>الاستنتاج: الغابة العشوائية أعطت خطأ أقل في المقياسين، لذلك كانت أفضل في هذه العينة.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9113A906-970F-492E-B3C4-C71FFE3CC72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C971F72A-E060-47B0-B5D3-1833FAC782C3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DA8C583-50F2-45E2-B005-B9D7B78D9937}"/>
              </a:ext>
            </a:extLst>
          </p:cNvPr>
          <p:cNvSpPr>
            <a:spLocks noGrp="1"/>
          </p:cNvSpPr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 b="1">
                <a:solidFill>
                  <a:srgbClr val="1F4E79"/>
                </a:solidFill>
                <a:latin typeface="Arial"/>
              </a:rPr>
              <a:t>رسم أهم الخصائص المؤثرة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05050"/>
                </a:solidFill>
                <a:latin typeface="Arial"/>
              </a:rPr>
              <a:t>يوضح الرسم العوامل التي اعتمد عليها نموذج الغابة العشوائية أكثر أثناء التنبؤ بزمن الاستجابة.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89280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الساعة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192024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57400" y="1920240"/>
            <a:ext cx="5669280" cy="256032"/>
          </a:xfrm>
          <a:prstGeom prst="rect">
            <a:avLst/>
          </a:prstGeom>
          <a:solidFill>
            <a:srgbClr val="D8754A"/>
          </a:solidFill>
          <a:ln>
            <a:solidFill>
              <a:srgbClr val="D8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189280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0.321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3957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مستوى الخطورة الأولي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42316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57400" y="2423160"/>
            <a:ext cx="3182075" cy="256032"/>
          </a:xfrm>
          <a:prstGeom prst="rect">
            <a:avLst/>
          </a:prstGeom>
          <a:solidFill>
            <a:srgbClr val="D8754A"/>
          </a:solidFill>
          <a:ln>
            <a:solidFill>
              <a:srgbClr val="D8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23957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0.180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8986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يوم الأسبوع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292608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57400" y="2926080"/>
            <a:ext cx="1813718" cy="256032"/>
          </a:xfrm>
          <a:prstGeom prst="rect">
            <a:avLst/>
          </a:prstGeom>
          <a:solidFill>
            <a:srgbClr val="D8754A"/>
          </a:solidFill>
          <a:ln>
            <a:solidFill>
              <a:srgbClr val="D8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289864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0.103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40156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مستوى الخطورة النهائي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42900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57400" y="3429000"/>
            <a:ext cx="469153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3000" y="340156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90448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منطقة الإرسال ب٢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393192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057400" y="3931920"/>
            <a:ext cx="430614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390448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407407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منطقة الإرسال ب٣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443484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057400" y="4434840"/>
            <a:ext cx="376783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43000" y="4407407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9103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نوع البلاغ: مريض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493776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057400" y="4937760"/>
            <a:ext cx="285035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43000" y="49103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3212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61"/>
                </a:solidFill>
                <a:latin typeface="Arial"/>
              </a:rPr>
              <a:t>أعلى العوامل: الساعة، مستوى الخطورة الأولي، ويوم الأسبوع.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3A7278FA-8894-4D43-B468-06AE25353F15}"/>
              </a:ext>
            </a:extLst>
          </p:cNvPr>
          <p:cNvSpPr>
            <a:spLocks noGrp="1"/>
          </p:cNvSpPr>
          <p:nvPr/>
        </p:nvSpPr>
        <p:spPr>
          <a:xfrm>
            <a:off x="-3841" y="5416"/>
            <a:ext cx="12192000" cy="483577"/>
          </a:xfrm>
          <a:prstGeom prst="rect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مشروع تعلم آلة للتنبؤ بزمن استجابة الإسعاف باستخدام الانحدار الخطي والغابة العشوائية</a:t>
            </a:r>
          </a:p>
        </p:txBody>
      </p:sp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4A45248C-EF84-4E1D-9F9C-E6A52CF0BC26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5B918155-9290-408C-BE85-BA63F1C11568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pic>
        <p:nvPicPr>
          <p:cNvPr id="13" name="صورة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125" y="1079053"/>
            <a:ext cx="3865956" cy="4515759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07883447-BED0-412B-87B5-DE46B2859F3D}"/>
              </a:ext>
            </a:extLst>
          </p:cNvPr>
          <p:cNvSpPr>
            <a:spLocks noGrp="1"/>
          </p:cNvSpPr>
          <p:nvPr/>
        </p:nvSpPr>
        <p:spPr>
          <a:xfrm flipH="1">
            <a:off x="290195" y="999490"/>
            <a:ext cx="4538980" cy="148907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800">
                <a:latin typeface="Arial"/>
                <a:ea typeface="Times New Roman"/>
                <a:cs typeface="Times New Roman"/>
              </a:rPr>
              <a:t>شكراً لحسن الاستماع</a:t>
            </a:r>
          </a:p>
        </p:txBody>
      </p:sp>
    </p:spTree>
    <p:extLst>
      <p:ext uri="{BB962C8B-B14F-4D97-AF65-F5344CB8AC3E}">
        <p14:creationId xmlns:p14="http://schemas.microsoft.com/office/powerpoint/2010/main" val="132008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9E74-6437-0FE8-F2DF-82BDC758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2640"/>
            <a:ext cx="10515600" cy="3072720"/>
          </a:xfrm>
        </p:spPr>
        <p:txBody>
          <a:bodyPr wrap="square">
            <a:normAutofit/>
          </a:bodyPr>
          <a:lstStyle/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الملحقات:</a:t>
            </a:r>
            <a:endParaRPr sz="2500" b="0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بيانات التدريب بعشرة آلاف سجل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مقارنة الحالات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الحالات المختارة للفحص اليدوي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مقارنة النماذج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نموذج الانحدار الخطي ونموذج الغابة العشوائية</a:t>
            </a:r>
          </a:p>
        </p:txBody>
      </p:sp>
    </p:spTree>
    <p:extLst>
      <p:ext uri="{BB962C8B-B14F-4D97-AF65-F5344CB8AC3E}">
        <p14:creationId xmlns:p14="http://schemas.microsoft.com/office/powerpoint/2010/main" val="185584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636</Words>
  <Application>Microsoft Macintosh PowerPoint</Application>
  <DocSecurity>0</DocSecurity>
  <PresentationFormat>Widescreen</PresentationFormat>
  <Paragraphs>91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Simplified Arabic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الملحقات: ملف بيانات التدريب بعشرة آلاف سجل ملف مقارنة الحالات ملف الحالات المختارة للفحص اليدوي ملف مقارنة النماذج نموذج الانحدار الخطي ونموذج الغابة العشوائية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omeir jebreel</cp:lastModifiedBy>
  <cp:revision>2</cp:revision>
  <dcterms:created xsi:type="dcterms:W3CDTF">2026-05-09T09:32:21Z</dcterms:created>
  <dcterms:modified xsi:type="dcterms:W3CDTF">2026-05-10T12:26:03Z</dcterms:modified>
</cp:coreProperties>
</file>